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D1A15"/>
          </a:solidFill>
          <a:ln w="12700">
            <a:solidFill>
              <a:srgbClr val="9C7A4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303520"/>
            <a:ext cx="4937760" cy="1097280"/>
          </a:xfrm>
          <a:prstGeom prst="arc">
            <a:avLst/>
          </a:prstGeom>
          <a:noFill/>
          <a:ln w="76200">
            <a:solidFill>
              <a:srgbClr val="D8C3A3">
                <a:alpha val="90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658368"/>
            <a:ext cx="1828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600200"/>
            <a:ext cx="39319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D8C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فني ومالي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43400" y="1993392"/>
            <a:ext cx="59893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(اسم البرنامج)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0" y="3063240"/>
            <a:ext cx="464515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F0E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 إلى: (اسم الجهة)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3520440"/>
            <a:ext cx="5669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BBA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التاريخ: (تاريخ العرض)    |    رقم العرض: (رقم العرض)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0120" y="4617720"/>
            <a:ext cx="3566160" cy="1097280"/>
          </a:xfrm>
          <a:prstGeom prst="roundRect">
            <a:avLst/>
          </a:prstGeom>
          <a:solidFill>
            <a:srgbClr val="2A261F"/>
          </a:solidFill>
          <a:ln w="12700">
            <a:solidFill>
              <a:srgbClr val="9C7A4C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4828032"/>
            <a:ext cx="3017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الفهم يُرسل العرض الفني والمالي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D8C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BBA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العرض؟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مخصص بناءً على إجابات نموذج جاهزية الذكاء الاصطناعي والأتمتة.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3840480" cy="2971800"/>
          </a:xfrm>
          <a:prstGeom prst="roundRect">
            <a:avLst>
              <a:gd name="adj" fmla="val 2462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519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07008" y="2212848"/>
            <a:ext cx="32735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فهمنا الأولي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7008" y="2724912"/>
            <a:ext cx="3273552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تستهدف (اسم الجهة) تطوير قدرات (الفئة المستهدفة) في (القطاع) مع تركيز على: (أكبر التحديات / الأولوية الأولى).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74920" y="182880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67528" y="2212848"/>
            <a:ext cx="217627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67528" y="2724912"/>
            <a:ext cx="2176272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التدريب إلى تطبيق عملي داخل مهام الموظفين، وليس مجرد شرح عام للأدوات.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38160" y="1828800"/>
            <a:ext cx="3063240" cy="2971800"/>
          </a:xfrm>
          <a:prstGeom prst="roundRect">
            <a:avLst>
              <a:gd name="adj" fmla="val 2462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69848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430768" y="2212848"/>
            <a:ext cx="249631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30768" y="2724912"/>
            <a:ext cx="2496312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تمارين مبنية على إجابات المشاركين، قوالب تشغيل، ومؤشرات قياس أثر بعد ٩٠ يومًا.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الاحتياج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الحالي كما يظهر من النموذج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الشريحة تُعبّأ من إجابات Google Form / Sheet.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207008" y="2212848"/>
            <a:ext cx="41879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المتكررة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07008" y="2724912"/>
            <a:ext cx="418795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(المهمة المتكررة الأولى) — (ساعاتها أسبوعيًا)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(المهمة المتكررة الثانية) — (ساعاتها أسبوعيًا)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182880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81928" y="2212848"/>
            <a:ext cx="44165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اليومية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81928" y="2724912"/>
            <a:ext cx="441655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ما ينتجه المشاركون: (ما أكثر ما تنتجه في عملك اليومي؟)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333756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207008" y="3721608"/>
            <a:ext cx="41879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مستوى استخدام الذكاء الاصطناعي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07008" y="4233672"/>
            <a:ext cx="41879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الاستخدام الحالي: (استخدامك لأدوات الذكاء الاصطناعي)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 المجربة: (الأدوات التي جربتها)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333756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81928" y="3721608"/>
            <a:ext cx="44165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العوائق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81928" y="4233672"/>
            <a:ext cx="44165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(ما الذي يعيقك اليوم؟ / اختر كل ما ينطبق عليك)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الأساس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نقيس قبل التدريب وبعده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يكون البرنامج قابلًا للتقييم وليس انطباعًا عامًا.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120" y="1828800"/>
            <a:ext cx="4754880" cy="2468880"/>
          </a:xfrm>
          <a:prstGeom prst="roundRect">
            <a:avLst/>
          </a:prstGeom>
          <a:solidFill>
            <a:srgbClr val="1D1A15"/>
          </a:solidFill>
          <a:ln w="12700">
            <a:solidFill>
              <a:srgbClr val="1D1A1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D8C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(مجموع الساعات الأسبوعية)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41732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ساعات أسبوعية في مهام متكررة يمكن أتمتتها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80760" y="1828800"/>
            <a:ext cx="4754880" cy="2468880"/>
          </a:xfrm>
          <a:prstGeom prst="roundRect">
            <a:avLst/>
          </a:prstGeom>
          <a:solidFill>
            <a:srgbClr val="F0E4D1"/>
          </a:solidFill>
          <a:ln w="12700">
            <a:solidFill>
              <a:srgbClr val="E4D7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(استعدادك لتطبيق ما تتعلمه)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4652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الاستعداد من ١ إلى ٥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البرنامج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الإجابة إلى التمرين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تمرين في البرنامج يُشتق من مهام المشاركين الحقيقية.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743200"/>
            <a:ext cx="1783080" cy="1143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48840" y="2907792"/>
            <a:ext cx="292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" y="3246120"/>
            <a:ext cx="13533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الردود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724912" y="3044952"/>
            <a:ext cx="256032" cy="256032"/>
          </a:xfrm>
          <a:prstGeom prst="chevron">
            <a:avLst/>
          </a:prstGeom>
          <a:solidFill>
            <a:srgbClr val="D8C3A3"/>
          </a:solidFill>
          <a:ln w="12700">
            <a:solidFill>
              <a:srgbClr val="D8C3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63240" y="2743200"/>
            <a:ext cx="1783080" cy="1143000"/>
          </a:xfrm>
          <a:prstGeom prst="roundRect">
            <a:avLst/>
          </a:prstGeom>
          <a:solidFill>
            <a:srgbClr val="F0E4D1"/>
          </a:solidFill>
          <a:ln w="12700">
            <a:solidFill>
              <a:srgbClr val="E4D7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2907792"/>
            <a:ext cx="292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64408" y="3246120"/>
            <a:ext cx="13533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التمارين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873752" y="3044952"/>
            <a:ext cx="256032" cy="256032"/>
          </a:xfrm>
          <a:prstGeom prst="chevron">
            <a:avLst/>
          </a:prstGeom>
          <a:solidFill>
            <a:srgbClr val="D8C3A3"/>
          </a:solidFill>
          <a:ln w="12700">
            <a:solidFill>
              <a:srgbClr val="D8C3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2743200"/>
            <a:ext cx="1783080" cy="1143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2907792"/>
            <a:ext cx="292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13248" y="3246120"/>
            <a:ext cx="13533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عملي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022592" y="3044952"/>
            <a:ext cx="256032" cy="256032"/>
          </a:xfrm>
          <a:prstGeom prst="chevron">
            <a:avLst/>
          </a:prstGeom>
          <a:solidFill>
            <a:srgbClr val="D8C3A3"/>
          </a:solidFill>
          <a:ln w="12700">
            <a:solidFill>
              <a:srgbClr val="D8C3A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60920" y="2743200"/>
            <a:ext cx="1783080" cy="1143000"/>
          </a:xfrm>
          <a:prstGeom prst="roundRect">
            <a:avLst/>
          </a:prstGeom>
          <a:solidFill>
            <a:srgbClr val="F0E4D1"/>
          </a:solidFill>
          <a:ln w="12700">
            <a:solidFill>
              <a:srgbClr val="E4D7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0" y="2907792"/>
            <a:ext cx="292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62088" y="3246120"/>
            <a:ext cx="13533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وأتمتة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171432" y="3044952"/>
            <a:ext cx="256032" cy="256032"/>
          </a:xfrm>
          <a:prstGeom prst="chevron">
            <a:avLst/>
          </a:prstGeom>
          <a:solidFill>
            <a:srgbClr val="D8C3A3"/>
          </a:solidFill>
          <a:ln w="12700">
            <a:solidFill>
              <a:srgbClr val="D8C3A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09760" y="2743200"/>
            <a:ext cx="1783080" cy="1143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744200" y="2907792"/>
            <a:ext cx="292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710928" y="3246120"/>
            <a:ext cx="13533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بعد ٩٠ يوم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المدخلات: (إجابات النموذج)  ←  المخرجات: (برنامج مخصص + عرض فني ومالي)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العمل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الأول: التدريب والتطبيق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عملي حسب القسم والمسمى الوظيفي وطبيعة المخرجات اليومية.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07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صياغة الطلبات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7008" y="2724912"/>
            <a:ext cx="2587752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المشاركين على طلب واضح يعطي نتيجة دقيقة من أول مرة.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الحالي: (تقييم صياغة طلب واضح)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95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36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المخرجات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36008" y="2724912"/>
            <a:ext cx="2587752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يحكم الموظف على جودة ناتج الذكاء الاصطناعي ومتى لا يصلح للاستخدام.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الحالي: (تقييم الحكم على جودة المخرَج)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0" y="18288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424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65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على العمل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65008" y="2724912"/>
            <a:ext cx="2587752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الأدوات على ملفات وبيانات العمل الحقيقية ضمن ضوابط واضحة.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الحالي: (تقييم استخدام الأداة على بيانات عملي)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العمل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الثاني: القوالب والأتمتة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المهمة المتكررة إلى نموذج تشغيل قابل للاستخدام بعد التدريب.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4754880" cy="2468880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07008" y="2212848"/>
            <a:ext cx="41879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مرشحة للتطبيق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7008" y="2724912"/>
            <a:ext cx="418795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اختفت مهمة واحدة من اليوم تلقائيًا ستكون: (لو اختفت مهمة واحدة من يومك تلقائيًا، أي مهمة تختار؟)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1828800"/>
            <a:ext cx="4983480" cy="2468880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46988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81928" y="2212848"/>
            <a:ext cx="44165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مخرجات محتملة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81928" y="2724912"/>
            <a:ext cx="441655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(قالب تقرير)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(مكتبة أوامر)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(خطوة أتمتة)</a:t>
            </a:r>
            <a:endParaRPr lang="en-US" sz="12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(لوحة متابعة / SOP)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تستلمه الجهة؟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مخرجات واضحة قبل بداية التنفيذ.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07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فهم الاحتياج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7008" y="2724912"/>
            <a:ext cx="2587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نتائج النموذج حسب الأقسام والفئات.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95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36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البرنامج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36008" y="2724912"/>
            <a:ext cx="2587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محاور تدريب مبنية على الأولوية الأولى: (أولويتك الأولى من التدريب).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0" y="1828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424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65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مواد وتمارين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65008" y="2724912"/>
            <a:ext cx="2587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تمارين مشتقة من المهام المتكررة والمخرجات اليومية.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14400" y="352044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66160" y="372160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207008" y="390448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تشغيل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07008" y="4416552"/>
            <a:ext cx="2587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تساعد الفريق على الاستمرار بعد التدريب.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343400" y="352044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995160" y="372160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36008" y="390448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أثر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636008" y="4416552"/>
            <a:ext cx="2587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خط الأساس مع القياس بعد ٩٠ يومًا.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772400" y="352044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424160" y="372160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65008" y="390448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توصيات تالية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65008" y="4416552"/>
            <a:ext cx="2587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خطوات تحسين أو أتمتة لاحقة حسب النتائج.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تنفيذ مبدئية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تتغير المدة حسب عدد المشاركين ونطاق القوالب والأتمتة.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6968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 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828800" y="1938528"/>
            <a:ext cx="6629400" cy="0"/>
          </a:xfrm>
          <a:prstGeom prst="line">
            <a:avLst/>
          </a:prstGeom>
          <a:noFill/>
          <a:ln w="12700">
            <a:solidFill>
              <a:srgbClr val="E4D7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178308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اجتماع فهم وتحليل الردود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69680" y="2468880"/>
            <a:ext cx="1417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 ٢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828800" y="2624328"/>
            <a:ext cx="6629400" cy="0"/>
          </a:xfrm>
          <a:prstGeom prst="line">
            <a:avLst/>
          </a:prstGeom>
          <a:noFill/>
          <a:ln w="12700">
            <a:solidFill>
              <a:srgbClr val="E4D7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0" y="246888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البرنامج والتمارين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6968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 ٣-٤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828800" y="3310128"/>
            <a:ext cx="6629400" cy="0"/>
          </a:xfrm>
          <a:prstGeom prst="line">
            <a:avLst/>
          </a:prstGeom>
          <a:noFill/>
          <a:ln w="12700">
            <a:solidFill>
              <a:srgbClr val="E4D7C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11680" y="315468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التدريب العملي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869680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 ٥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828800" y="3995928"/>
            <a:ext cx="6629400" cy="0"/>
          </a:xfrm>
          <a:prstGeom prst="line">
            <a:avLst/>
          </a:prstGeom>
          <a:noFill/>
          <a:ln w="12700">
            <a:solidFill>
              <a:srgbClr val="E4D7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11680" y="384048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القوالب والأدوات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6968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٩٠ يوم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828800" y="4681728"/>
            <a:ext cx="6629400" cy="0"/>
          </a:xfrm>
          <a:prstGeom prst="line">
            <a:avLst/>
          </a:prstGeom>
          <a:noFill/>
          <a:ln w="12700">
            <a:solidFill>
              <a:srgbClr val="E4D7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11680" y="452628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الأثر والتوصيات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المالي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الاستثمار المقترح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يبقى هذا القسم قابلًا للتعديل حتى اعتماد التسعير النهائي.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07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التشخيص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7008" y="2724912"/>
            <a:ext cx="258775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(رسوم التشخيص)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95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36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التدريب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36008" y="2724912"/>
            <a:ext cx="258775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(رسوم التدريب / سعر المشارك / عدد المشاركين)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0" y="18288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E4D7C3"/>
            </a:solidFill>
            <a:prstDash val="solid"/>
          </a:ln>
          <a:effectLst>
            <a:outerShdw sx="100000" sy="100000" kx="0" ky="0" algn="bl" rotWithShape="0" blurRad="12700" dist="50800" dir="2700000">
              <a:srgbClr val="9A7D55">
                <a:alpha val="11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424160" y="2029968"/>
            <a:ext cx="3108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65008" y="2212848"/>
            <a:ext cx="25877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القوالب والأتمتة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65008" y="2724912"/>
            <a:ext cx="258775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(رسوم تطوير القوالب أو الأتمتة)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97280" y="4617720"/>
            <a:ext cx="99669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قبل الضريبة: (الإجمالي قبل الضريبة)     |     ضريبة القيمة المضافة: (VAT)     |     الإجمالي شامل الضريبة: (الإجمالي)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7C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212080"/>
            <a:ext cx="3840480" cy="1554480"/>
          </a:xfrm>
          <a:prstGeom prst="arc">
            <a:avLst/>
          </a:prstGeom>
          <a:noFill/>
          <a:ln w="101600">
            <a:solidFill>
              <a:srgbClr val="D8C3A3">
                <a:alpha val="75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9184"/>
            <a:ext cx="141732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الافتراضات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859536"/>
            <a:ext cx="10287000" cy="0"/>
          </a:xfrm>
          <a:prstGeom prst="line">
            <a:avLst/>
          </a:prstGeom>
          <a:noFill/>
          <a:ln w="12700">
            <a:solidFill>
              <a:srgbClr val="E4D7C3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143000"/>
            <a:ext cx="53949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بُني عليه العرض؟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0" y="2542032"/>
            <a:ext cx="5212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النقاط تحمي النطاق وتوضح طريقة التعامل مع التغييرات.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828800"/>
            <a:ext cx="9509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العرض مبني على إجابات النموذج واجتماع الفهم الأولي.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2395728"/>
            <a:ext cx="9509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أي تغيير جوهري في عدد المشاركين أو نطاق الأتمتة يتطلب تحديث العرض.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25880" y="2962656"/>
            <a:ext cx="9509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لا يشمل العرض تراخيص أدوات خارجية إلا إذا ذُكر ذلك صراحة.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3529584"/>
            <a:ext cx="9509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لا يتم إرسال أي مادة للعميل قبل مراجعة النسخة النهائية واعتمادها.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25880" y="4096512"/>
            <a:ext cx="9509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D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النتائج تعتمد على التزام الجهة بتطبيق المخرجات بعد التدريب.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9C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D6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D1A15"/>
          </a:solidFill>
          <a:ln w="12700">
            <a:solidFill>
              <a:srgbClr val="9C7A4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303520"/>
            <a:ext cx="4937760" cy="1097280"/>
          </a:xfrm>
          <a:prstGeom prst="arc">
            <a:avLst/>
          </a:prstGeom>
          <a:noFill/>
          <a:ln w="76200">
            <a:solidFill>
              <a:srgbClr val="D8C3A3">
                <a:alpha val="90000"/>
              </a:srgbClr>
            </a:solidFill>
            <a:prstDash val="solid"/>
          </a:ln>
        </p:spPr>
      </p:sp>
      <p:pic>
        <p:nvPicPr>
          <p:cNvPr id="4" name="Image 0" descr="/opt/data/nahr-proposal-generator/public/logo-nahr-ai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0"/>
            <a:ext cx="1828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D8C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التالية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11680" y="2423160"/>
            <a:ext cx="8229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اجتماع مواءمة لاعتماد النطاق ثم إرسال النسخة النهائية.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01168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0E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للتواصل: (رقم الجوال)  |  (البريد الإلكتروني)  |  (الموقع)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D8C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1732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BBA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نهر — عرض فني ومالي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Nahr Proposal Template</dc:title>
  <dc:subject>Technical and Financial Proposal Template</dc:subject>
  <dc:creator>Nahr</dc:creator>
  <cp:lastModifiedBy>Nahr</cp:lastModifiedBy>
  <cp:revision>1</cp:revision>
  <dcterms:created xsi:type="dcterms:W3CDTF">2026-08-31T13:48:36Z</dcterms:created>
  <dcterms:modified xsi:type="dcterms:W3CDTF">2026-08-31T13:48:36Z</dcterms:modified>
</cp:coreProperties>
</file>